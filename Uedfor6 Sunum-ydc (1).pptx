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23"/>
  </p:notesMasterIdLst>
  <p:sldIdLst>
    <p:sldId id="256" r:id="rId2"/>
    <p:sldId id="267" r:id="rId3"/>
    <p:sldId id="258" r:id="rId4"/>
    <p:sldId id="282" r:id="rId5"/>
    <p:sldId id="269" r:id="rId6"/>
    <p:sldId id="270" r:id="rId7"/>
    <p:sldId id="288" r:id="rId8"/>
    <p:sldId id="289" r:id="rId9"/>
    <p:sldId id="290" r:id="rId10"/>
    <p:sldId id="276" r:id="rId11"/>
    <p:sldId id="294" r:id="rId12"/>
    <p:sldId id="295" r:id="rId13"/>
    <p:sldId id="296" r:id="rId14"/>
    <p:sldId id="297" r:id="rId15"/>
    <p:sldId id="298" r:id="rId16"/>
    <p:sldId id="291" r:id="rId17"/>
    <p:sldId id="299" r:id="rId18"/>
    <p:sldId id="300" r:id="rId19"/>
    <p:sldId id="292" r:id="rId20"/>
    <p:sldId id="301" r:id="rId21"/>
    <p:sldId id="287" r:id="rId2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EMİN" initials="Y" lastIdx="1" clrIdx="0">
    <p:extLst>
      <p:ext uri="{19B8F6BF-5375-455C-9EA6-DF929625EA0E}">
        <p15:presenceInfo xmlns:p15="http://schemas.microsoft.com/office/powerpoint/2012/main" userId="YASEMİ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DEDEDE"/>
    <a:srgbClr val="316697"/>
    <a:srgbClr val="6087AC"/>
    <a:srgbClr val="FF3300"/>
    <a:srgbClr val="336699"/>
    <a:srgbClr val="9A5244"/>
    <a:srgbClr val="53888B"/>
    <a:srgbClr val="9BC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2" autoAdjust="0"/>
    <p:restoredTop sz="91762" autoAdjust="0"/>
  </p:normalViewPr>
  <p:slideViewPr>
    <p:cSldViewPr snapToGrid="0">
      <p:cViewPr varScale="1">
        <p:scale>
          <a:sx n="56" d="100"/>
          <a:sy n="56" d="100"/>
        </p:scale>
        <p:origin x="12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9T11:39:26.458" idx="1">
    <p:pos x="10" y="10"/>
    <p:text>bu slayt öğretim tasarımcısı rolleri mi?öyleyse yazalım başlığa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FF3272-185F-4D34-BC9E-B333B37B538C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1D753-9C75-4B8F-8CF4-F972831A2DC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634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404040"/>
                </a:solidFill>
              </a:rPr>
              <a:t>Yapay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zekâ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metin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görüntü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ses</a:t>
            </a:r>
            <a:r>
              <a:rPr lang="en-US" dirty="0">
                <a:solidFill>
                  <a:srgbClr val="404040"/>
                </a:solidFill>
              </a:rPr>
              <a:t>, video </a:t>
            </a:r>
            <a:r>
              <a:rPr lang="en-US" dirty="0" err="1">
                <a:solidFill>
                  <a:srgbClr val="404040"/>
                </a:solidFill>
              </a:rPr>
              <a:t>veya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çok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modlu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verilerden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soyut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kalıplar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temsiller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öğrenerek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yazılı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anlatılar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görseller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ses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kompozisyonları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diğer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yaratıcı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ya</a:t>
            </a:r>
            <a:r>
              <a:rPr lang="en-US" dirty="0">
                <a:solidFill>
                  <a:srgbClr val="404040"/>
                </a:solidFill>
              </a:rPr>
              <a:t> da </a:t>
            </a:r>
            <a:r>
              <a:rPr lang="en-US" dirty="0" err="1">
                <a:solidFill>
                  <a:srgbClr val="404040"/>
                </a:solidFill>
              </a:rPr>
              <a:t>işlevsel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içerikler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üreten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araçlar</a:t>
            </a:r>
            <a:r>
              <a:rPr lang="tr-TR" dirty="0" err="1">
                <a:solidFill>
                  <a:srgbClr val="404040"/>
                </a:solidFill>
              </a:rPr>
              <a:t>dır</a:t>
            </a:r>
            <a:r>
              <a:rPr lang="tr-TR" dirty="0">
                <a:solidFill>
                  <a:srgbClr val="404040"/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dirty="0">
              <a:solidFill>
                <a:srgbClr val="40404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Z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araçları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öğrencilerin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akademik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performansını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öğrenme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motivasyonunu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öz-yeterlik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algısını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memnuniyetini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yaratıcı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problem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çözme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becerilerini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olumlu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yönde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etkile</a:t>
            </a:r>
            <a:r>
              <a:rPr lang="tr-TR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mektedir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dirty="0">
              <a:solidFill>
                <a:srgbClr val="404040"/>
              </a:solidFill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1D753-9C75-4B8F-8CF4-F972831A2DCB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982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Tarihsel olarak bakıldığında farklı felsefe ve kuramlardan etkilenmiştir.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1D753-9C75-4B8F-8CF4-F972831A2DCB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7327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Öğretim tasarımı sürecine rehberlik eden bir ADDIE modeli vardır.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1D753-9C75-4B8F-8CF4-F972831A2DCB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3849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dirty="0">
                <a:solidFill>
                  <a:srgbClr val="404040"/>
                </a:solidFill>
              </a:rPr>
              <a:t>EK OLARAK,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dirty="0" err="1">
                <a:solidFill>
                  <a:srgbClr val="404040"/>
                </a:solidFill>
              </a:rPr>
              <a:t>güçlü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iletişim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analitik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düşünme</a:t>
            </a:r>
            <a:r>
              <a:rPr lang="en-US" dirty="0">
                <a:solidFill>
                  <a:srgbClr val="404040"/>
                </a:solidFill>
              </a:rPr>
              <a:t>, problem </a:t>
            </a:r>
            <a:r>
              <a:rPr lang="en-US" dirty="0" err="1">
                <a:solidFill>
                  <a:srgbClr val="404040"/>
                </a:solidFill>
              </a:rPr>
              <a:t>çözme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becerilerine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sahip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olmaları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gerekir</a:t>
            </a:r>
            <a:r>
              <a:rPr lang="en-US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01D753-9C75-4B8F-8CF4-F972831A2DCB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5084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961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  <p:pic>
        <p:nvPicPr>
          <p:cNvPr id="7" name="Resi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70" y="-451343"/>
            <a:ext cx="2001732" cy="2001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5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838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0082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9508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831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8987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932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1353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323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46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7A5875E-DB95-48F7-9782-08A90044C962}" type="datetimeFigureOut">
              <a:rPr lang="tr-TR" smtClean="0"/>
              <a:t>26.09.2026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67B8E2-894C-40A1-A0FA-07D6E4B6E764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2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601" y="1365390"/>
            <a:ext cx="1268999" cy="1268999"/>
          </a:xfrm>
          <a:prstGeom prst="rect">
            <a:avLst/>
          </a:prstGeom>
        </p:spPr>
      </p:pic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066800" y="1378230"/>
            <a:ext cx="4296408" cy="1186249"/>
          </a:xfrm>
        </p:spPr>
        <p:txBody>
          <a:bodyPr>
            <a:normAutofit fontScale="90000"/>
          </a:bodyPr>
          <a:lstStyle/>
          <a:p>
            <a:b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br>
              <a:rPr lang="tr-TR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UEDFOR 6</a:t>
            </a:r>
            <a:endParaRPr lang="tr-TR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066800" y="4342021"/>
            <a:ext cx="10058400" cy="1764003"/>
          </a:xfrm>
        </p:spPr>
        <p:txBody>
          <a:bodyPr>
            <a:noAutofit/>
          </a:bodyPr>
          <a:lstStyle/>
          <a:p>
            <a:pPr algn="ctr"/>
            <a:r>
              <a:rPr lang="tr-TR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YAPAY </a:t>
            </a:r>
            <a:r>
              <a:rPr lang="tr-TR" sz="28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ZEKÂnın</a:t>
            </a:r>
            <a:r>
              <a:rPr lang="tr-TR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öğretim tasarımı süreçleri ile öğretim tasarımcısı rollerine etkileri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tr-T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Dr. Yasemin </a:t>
            </a:r>
            <a:r>
              <a:rPr lang="tr-TR" sz="2000" b="1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demiraslan</a:t>
            </a:r>
            <a:r>
              <a:rPr lang="tr-T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çevik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tr-T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Fatma Gür Arslan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tr-TR" sz="2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Zeynep Açıkgöz</a:t>
            </a:r>
          </a:p>
          <a:p>
            <a:pPr algn="ctr"/>
            <a:endParaRPr lang="tr-TR" sz="2800" dirty="0"/>
          </a:p>
        </p:txBody>
      </p:sp>
      <p:sp>
        <p:nvSpPr>
          <p:cNvPr id="6" name="Metin kutusu 5"/>
          <p:cNvSpPr txBox="1"/>
          <p:nvPr/>
        </p:nvSpPr>
        <p:spPr>
          <a:xfrm>
            <a:off x="1294537" y="3044279"/>
            <a:ext cx="9602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ULUSAL EĞİTİMDE DÖNÜŞÜM FORUMU</a:t>
            </a: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993" y="1365069"/>
            <a:ext cx="1365940" cy="1323975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326" y="1294083"/>
            <a:ext cx="1411612" cy="1411612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331" y="1347015"/>
            <a:ext cx="1305747" cy="130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26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2386-6251-03A1-0FE4-E7037F1C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44ADEF9-FCF8-5DF7-B5B7-F1D78BEE4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802765-7BD4-C96E-0DE6-6B0D665E9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dirty="0">
                <a:solidFill>
                  <a:srgbClr val="404040"/>
                </a:solidFill>
              </a:rPr>
              <a:t>Y</a:t>
            </a:r>
            <a:r>
              <a:rPr lang="en-US" dirty="0">
                <a:solidFill>
                  <a:srgbClr val="404040"/>
                </a:solidFill>
              </a:rPr>
              <a:t>apay </a:t>
            </a:r>
            <a:r>
              <a:rPr lang="en-US" dirty="0" err="1">
                <a:solidFill>
                  <a:srgbClr val="404040"/>
                </a:solidFill>
              </a:rPr>
              <a:t>zeka</a:t>
            </a:r>
            <a:r>
              <a:rPr lang="en-US" dirty="0">
                <a:solidFill>
                  <a:srgbClr val="404040"/>
                </a:solidFill>
              </a:rPr>
              <a:t> (YZ), </a:t>
            </a:r>
            <a:r>
              <a:rPr lang="en-US" dirty="0" err="1">
                <a:solidFill>
                  <a:srgbClr val="404040"/>
                </a:solidFill>
              </a:rPr>
              <a:t>öğrenme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deneyimlerini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geliştirme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öğretim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süreçlerine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katkısıyla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eğitimde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önemli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bir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odak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noktası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haline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gelmiştir</a:t>
            </a:r>
            <a:r>
              <a:rPr lang="en-US" dirty="0">
                <a:solidFill>
                  <a:srgbClr val="404040"/>
                </a:solidFill>
              </a:rPr>
              <a:t>. </a:t>
            </a:r>
            <a:r>
              <a:rPr lang="tr-TR" kern="100" dirty="0">
                <a:solidFill>
                  <a:srgbClr val="404040"/>
                </a:solidFill>
                <a:ea typeface="Nirmala Text" panose="020B0502040204020203" pitchFamily="34" charset="0"/>
                <a:cs typeface="Nirmala Text" panose="020B0502040204020203" pitchFamily="34" charset="0"/>
              </a:rPr>
              <a:t>  </a:t>
            </a:r>
          </a:p>
          <a:p>
            <a:pPr marL="292608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None/>
              <a:defRPr/>
            </a:pPr>
            <a:r>
              <a:rPr lang="tr-TR" dirty="0">
                <a:solidFill>
                  <a:srgbClr val="404040"/>
                </a:solidFill>
              </a:rPr>
              <a:t>Öğretim içeriği geliştirme, </a:t>
            </a:r>
            <a:r>
              <a:rPr lang="en-US" dirty="0" err="1">
                <a:solidFill>
                  <a:srgbClr val="404040"/>
                </a:solidFill>
              </a:rPr>
              <a:t>değerlendirme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süreçlerini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kolaylaştırma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yapıcı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geri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bildirim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sağlama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etkileşimli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etkinlikler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tasarlama</a:t>
            </a:r>
            <a:r>
              <a:rPr lang="tr-TR" dirty="0">
                <a:solidFill>
                  <a:srgbClr val="404040"/>
                </a:solidFill>
              </a:rPr>
              <a:t>…..</a:t>
            </a:r>
          </a:p>
          <a:p>
            <a:pPr marL="292608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None/>
              <a:defRPr/>
            </a:pP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YZ, ö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ğrencilerin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akademik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performansını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öğrenme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motivasyonunu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öz-yeterlik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algısını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memnuniyetini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yaratıcı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problem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çözme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becerilerini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olumlu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yönde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etkile</a:t>
            </a:r>
            <a:r>
              <a:rPr lang="tr-TR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mektedir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None/>
              <a:defRPr/>
            </a:pPr>
            <a:endParaRPr lang="tr-TR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60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Yapay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zekânın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artan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kullanımı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öğretim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tasarımında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dönüşümleri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beraberinde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getirmektedir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None/>
              <a:defRPr/>
            </a:pP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Öğretim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tasarımı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öğrenenlerin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hedeflenen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bilgi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becerileri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edinmesini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kolaylaştıran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etkili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verimli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çekici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öğrenme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ortam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deneyimleri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oluşturmayı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amaçlayan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sistematik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süreçtir</a:t>
            </a: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351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0435-11E0-A404-D03D-D72C4EC7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Resim 10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7D5E88F-0890-EBBA-937C-63B2CD0328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rgbClr val="156082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055" y="2024063"/>
            <a:ext cx="872828" cy="872828"/>
          </a:xfrm>
          <a:prstGeom prst="rect">
            <a:avLst/>
          </a:prstGeom>
        </p:spPr>
      </p:pic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1B2C2556-959D-57DE-D9D2-3F4FD1A3C025}"/>
              </a:ext>
            </a:extLst>
          </p:cNvPr>
          <p:cNvCxnSpPr>
            <a:cxnSpLocks/>
          </p:cNvCxnSpPr>
          <p:nvPr/>
        </p:nvCxnSpPr>
        <p:spPr>
          <a:xfrm>
            <a:off x="1059814" y="3667221"/>
            <a:ext cx="1007729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Resim 11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AE0A219-B176-B183-F913-7253706CA6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rgbClr val="156082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545" y="2000138"/>
            <a:ext cx="882508" cy="882508"/>
          </a:xfrm>
          <a:prstGeom prst="rect">
            <a:avLst/>
          </a:prstGeom>
        </p:spPr>
      </p:pic>
      <p:sp>
        <p:nvSpPr>
          <p:cNvPr id="2" name="Unvan 1">
            <a:extLst>
              <a:ext uri="{FF2B5EF4-FFF2-40B4-BE49-F238E27FC236}">
                <a16:creationId xmlns:a16="http://schemas.microsoft.com/office/drawing/2014/main" id="{92BF68E6-D7D3-EFE5-5439-6E242D72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9801B3B-B96A-D214-E981-495878526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tr-TR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Düz Bağlayıcı 9">
            <a:extLst>
              <a:ext uri="{FF2B5EF4-FFF2-40B4-BE49-F238E27FC236}">
                <a16:creationId xmlns:a16="http://schemas.microsoft.com/office/drawing/2014/main" id="{7054A6D5-B9CA-B111-5261-66075018A158}"/>
              </a:ext>
            </a:extLst>
          </p:cNvPr>
          <p:cNvCxnSpPr>
            <a:cxnSpLocks/>
          </p:cNvCxnSpPr>
          <p:nvPr/>
        </p:nvCxnSpPr>
        <p:spPr>
          <a:xfrm>
            <a:off x="7536517" y="1971957"/>
            <a:ext cx="0" cy="4212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C02FD083-F60F-6639-3773-BF88C7F2CF7C}"/>
              </a:ext>
            </a:extLst>
          </p:cNvPr>
          <p:cNvSpPr txBox="1"/>
          <p:nvPr/>
        </p:nvSpPr>
        <p:spPr>
          <a:xfrm>
            <a:off x="1637248" y="2882646"/>
            <a:ext cx="2307103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Davranışçı Yaklaşım</a:t>
            </a:r>
          </a:p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(1940-1950’ler)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AE69E914-47D2-CDE0-56F8-BA0B7E3B6EA6}"/>
              </a:ext>
            </a:extLst>
          </p:cNvPr>
          <p:cNvSpPr txBox="1"/>
          <p:nvPr/>
        </p:nvSpPr>
        <p:spPr>
          <a:xfrm>
            <a:off x="1628689" y="3972619"/>
            <a:ext cx="22986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Gözlemlenebilir davranışlar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BF3BBB16-B2A3-E82F-88B6-98D5823FE28B}"/>
              </a:ext>
            </a:extLst>
          </p:cNvPr>
          <p:cNvSpPr txBox="1"/>
          <p:nvPr/>
        </p:nvSpPr>
        <p:spPr>
          <a:xfrm>
            <a:off x="1637248" y="5120171"/>
            <a:ext cx="2307102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Küçük adımlar, pozitif pekiştirme</a:t>
            </a:r>
          </a:p>
          <a:p>
            <a:pPr algn="ctr">
              <a:spcAft>
                <a:spcPts val="800"/>
              </a:spcAft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(Skinner)</a:t>
            </a:r>
          </a:p>
        </p:txBody>
      </p:sp>
      <p:cxnSp>
        <p:nvCxnSpPr>
          <p:cNvPr id="31" name="Düz Bağlayıcı 30">
            <a:extLst>
              <a:ext uri="{FF2B5EF4-FFF2-40B4-BE49-F238E27FC236}">
                <a16:creationId xmlns:a16="http://schemas.microsoft.com/office/drawing/2014/main" id="{0BB74084-5F28-9885-B2AF-8959BB0651C5}"/>
              </a:ext>
            </a:extLst>
          </p:cNvPr>
          <p:cNvCxnSpPr>
            <a:cxnSpLocks/>
          </p:cNvCxnSpPr>
          <p:nvPr/>
        </p:nvCxnSpPr>
        <p:spPr>
          <a:xfrm>
            <a:off x="1059814" y="4866516"/>
            <a:ext cx="1007729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Düz Bağlayıcı 31">
            <a:extLst>
              <a:ext uri="{FF2B5EF4-FFF2-40B4-BE49-F238E27FC236}">
                <a16:creationId xmlns:a16="http://schemas.microsoft.com/office/drawing/2014/main" id="{C003F7CB-AA84-53FF-CEE9-532DED04566A}"/>
              </a:ext>
            </a:extLst>
          </p:cNvPr>
          <p:cNvCxnSpPr>
            <a:cxnSpLocks/>
          </p:cNvCxnSpPr>
          <p:nvPr/>
        </p:nvCxnSpPr>
        <p:spPr>
          <a:xfrm>
            <a:off x="4656464" y="1976309"/>
            <a:ext cx="0" cy="4212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3079951A-8AC1-080C-852E-51B7E6169BF6}"/>
              </a:ext>
            </a:extLst>
          </p:cNvPr>
          <p:cNvSpPr txBox="1"/>
          <p:nvPr/>
        </p:nvSpPr>
        <p:spPr>
          <a:xfrm>
            <a:off x="4944010" y="2882646"/>
            <a:ext cx="2307103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Bilişsel Yaklaşım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(1960-1980’ler)</a:t>
            </a:r>
            <a:endParaRPr kumimoji="0" lang="tr-TR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A3A55B26-44B3-7D87-C5EC-FA46607F946F}"/>
              </a:ext>
            </a:extLst>
          </p:cNvPr>
          <p:cNvSpPr txBox="1"/>
          <p:nvPr/>
        </p:nvSpPr>
        <p:spPr>
          <a:xfrm>
            <a:off x="4935451" y="3820219"/>
            <a:ext cx="22986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Bilgi işleme, öğrenme hiyerarşisi (</a:t>
            </a:r>
            <a:r>
              <a:rPr lang="tr-TR" sz="20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Gagne</a:t>
            </a: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C3FC069-56E1-615A-B3E0-7F5B5E0871B8}"/>
              </a:ext>
            </a:extLst>
          </p:cNvPr>
          <p:cNvSpPr txBox="1"/>
          <p:nvPr/>
        </p:nvSpPr>
        <p:spPr>
          <a:xfrm>
            <a:off x="4944010" y="5120171"/>
            <a:ext cx="23071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ADDIE modeli, bilgisayar destekli öğretim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96196034-2064-27F1-72C2-E3C5A8CFA59E}"/>
              </a:ext>
            </a:extLst>
          </p:cNvPr>
          <p:cNvSpPr txBox="1"/>
          <p:nvPr/>
        </p:nvSpPr>
        <p:spPr>
          <a:xfrm>
            <a:off x="7564599" y="2882646"/>
            <a:ext cx="3658672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Yapılandırmacı Yaklaşım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000" b="0" i="0" u="none" strike="noStrike" kern="1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(1990 ve sonrası)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C7884467-EA62-41AF-487D-346F578DDD36}"/>
              </a:ext>
            </a:extLst>
          </p:cNvPr>
          <p:cNvSpPr txBox="1"/>
          <p:nvPr/>
        </p:nvSpPr>
        <p:spPr>
          <a:xfrm>
            <a:off x="8251739" y="4131369"/>
            <a:ext cx="22986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Bilginin aktif inşası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7FB00218-49BE-ED33-D186-76D4C10A9983}"/>
              </a:ext>
            </a:extLst>
          </p:cNvPr>
          <p:cNvSpPr txBox="1"/>
          <p:nvPr/>
        </p:nvSpPr>
        <p:spPr>
          <a:xfrm>
            <a:off x="8260298" y="5272571"/>
            <a:ext cx="23071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Otantik öğrenme, grup çalışmaları</a:t>
            </a:r>
          </a:p>
        </p:txBody>
      </p:sp>
      <p:pic>
        <p:nvPicPr>
          <p:cNvPr id="29" name="Resim 28" descr="siyah, karanlı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C4188B5-548D-1FEA-905C-7C54929C8C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rgbClr val="156082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16"/>
          <a:stretch>
            <a:fillRect/>
          </a:stretch>
        </p:blipFill>
        <p:spPr>
          <a:xfrm>
            <a:off x="8734516" y="2082574"/>
            <a:ext cx="1318839" cy="71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1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B088-8769-AD60-CAFE-BB3C41F0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5812DB7-B9C6-7E63-BAA1-B5848730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FEE182-39BA-A30C-F06D-FD1E242B9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tr-TR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1444F58-91EE-E921-D905-50DF4D08980D}"/>
              </a:ext>
            </a:extLst>
          </p:cNvPr>
          <p:cNvSpPr txBox="1"/>
          <p:nvPr/>
        </p:nvSpPr>
        <p:spPr>
          <a:xfrm>
            <a:off x="1157547" y="1963288"/>
            <a:ext cx="9876905" cy="107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ADDIE modeli, öğretim sürecini sistematik biçimde planlamaya rehberlik eder.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0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Esnek ve yinelemeli bir yapıya sahiptir.</a:t>
            </a:r>
          </a:p>
        </p:txBody>
      </p:sp>
      <p:sp>
        <p:nvSpPr>
          <p:cNvPr id="6" name="Dikdörtgen 5">
            <a:extLst>
              <a:ext uri="{FF2B5EF4-FFF2-40B4-BE49-F238E27FC236}">
                <a16:creationId xmlns:a16="http://schemas.microsoft.com/office/drawing/2014/main" id="{8ACEA926-E76C-A560-75B7-131EF116BA60}"/>
              </a:ext>
            </a:extLst>
          </p:cNvPr>
          <p:cNvSpPr/>
          <p:nvPr/>
        </p:nvSpPr>
        <p:spPr>
          <a:xfrm>
            <a:off x="1630648" y="3291997"/>
            <a:ext cx="1440000" cy="1248954"/>
          </a:xfrm>
          <a:prstGeom prst="rect">
            <a:avLst/>
          </a:prstGeom>
          <a:solidFill>
            <a:srgbClr val="639469"/>
          </a:solidFill>
          <a:ln>
            <a:solidFill>
              <a:srgbClr val="639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Analiz</a:t>
            </a: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56FAF004-4131-3939-25AF-C8C7BC37CBBA}"/>
              </a:ext>
            </a:extLst>
          </p:cNvPr>
          <p:cNvSpPr/>
          <p:nvPr/>
        </p:nvSpPr>
        <p:spPr>
          <a:xfrm>
            <a:off x="3433528" y="3333404"/>
            <a:ext cx="1440000" cy="1248954"/>
          </a:xfrm>
          <a:prstGeom prst="rect">
            <a:avLst/>
          </a:prstGeom>
          <a:solidFill>
            <a:srgbClr val="639469"/>
          </a:solidFill>
          <a:ln>
            <a:solidFill>
              <a:srgbClr val="639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Tasarım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405A8B00-690F-BDCF-DC74-B02B3D3231C2}"/>
              </a:ext>
            </a:extLst>
          </p:cNvPr>
          <p:cNvSpPr/>
          <p:nvPr/>
        </p:nvSpPr>
        <p:spPr>
          <a:xfrm>
            <a:off x="5222661" y="3333404"/>
            <a:ext cx="1440000" cy="1248954"/>
          </a:xfrm>
          <a:prstGeom prst="rect">
            <a:avLst/>
          </a:prstGeom>
          <a:solidFill>
            <a:srgbClr val="639469"/>
          </a:solidFill>
          <a:ln>
            <a:solidFill>
              <a:srgbClr val="639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Geliştirme</a:t>
            </a:r>
          </a:p>
        </p:txBody>
      </p:sp>
      <p:sp>
        <p:nvSpPr>
          <p:cNvPr id="9" name="Dikdörtgen 8">
            <a:extLst>
              <a:ext uri="{FF2B5EF4-FFF2-40B4-BE49-F238E27FC236}">
                <a16:creationId xmlns:a16="http://schemas.microsoft.com/office/drawing/2014/main" id="{03614639-86A2-E7D4-8D75-C7AB8D762E35}"/>
              </a:ext>
            </a:extLst>
          </p:cNvPr>
          <p:cNvSpPr/>
          <p:nvPr/>
        </p:nvSpPr>
        <p:spPr>
          <a:xfrm>
            <a:off x="7011794" y="3333404"/>
            <a:ext cx="1440000" cy="1248954"/>
          </a:xfrm>
          <a:prstGeom prst="rect">
            <a:avLst/>
          </a:prstGeom>
          <a:solidFill>
            <a:srgbClr val="639469"/>
          </a:solidFill>
          <a:ln>
            <a:solidFill>
              <a:srgbClr val="639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Uygulama</a:t>
            </a:r>
          </a:p>
        </p:txBody>
      </p:sp>
      <p:sp>
        <p:nvSpPr>
          <p:cNvPr id="10" name="İkizkenar Üçgen 9">
            <a:extLst>
              <a:ext uri="{FF2B5EF4-FFF2-40B4-BE49-F238E27FC236}">
                <a16:creationId xmlns:a16="http://schemas.microsoft.com/office/drawing/2014/main" id="{CC62809B-5F8C-5CB8-7D82-30F6B4775685}"/>
              </a:ext>
            </a:extLst>
          </p:cNvPr>
          <p:cNvSpPr/>
          <p:nvPr/>
        </p:nvSpPr>
        <p:spPr>
          <a:xfrm rot="5400000">
            <a:off x="2994395" y="3824526"/>
            <a:ext cx="360000" cy="180000"/>
          </a:xfrm>
          <a:prstGeom prst="triangle">
            <a:avLst/>
          </a:prstGeom>
          <a:solidFill>
            <a:srgbClr val="316697"/>
          </a:solidFill>
          <a:ln>
            <a:solidFill>
              <a:srgbClr val="3166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İkizkenar Üçgen 10">
            <a:extLst>
              <a:ext uri="{FF2B5EF4-FFF2-40B4-BE49-F238E27FC236}">
                <a16:creationId xmlns:a16="http://schemas.microsoft.com/office/drawing/2014/main" id="{0306E208-5C91-F5DA-B3F4-6EBDA1374111}"/>
              </a:ext>
            </a:extLst>
          </p:cNvPr>
          <p:cNvSpPr/>
          <p:nvPr/>
        </p:nvSpPr>
        <p:spPr>
          <a:xfrm rot="5400000">
            <a:off x="4797275" y="3867881"/>
            <a:ext cx="360000" cy="180000"/>
          </a:xfrm>
          <a:prstGeom prst="triangle">
            <a:avLst/>
          </a:prstGeom>
          <a:solidFill>
            <a:srgbClr val="316697"/>
          </a:solidFill>
          <a:ln>
            <a:solidFill>
              <a:srgbClr val="3166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İkizkenar Üçgen 11">
            <a:extLst>
              <a:ext uri="{FF2B5EF4-FFF2-40B4-BE49-F238E27FC236}">
                <a16:creationId xmlns:a16="http://schemas.microsoft.com/office/drawing/2014/main" id="{A66D5491-1113-7193-F05C-117D2A7BE8A1}"/>
              </a:ext>
            </a:extLst>
          </p:cNvPr>
          <p:cNvSpPr/>
          <p:nvPr/>
        </p:nvSpPr>
        <p:spPr>
          <a:xfrm rot="5400000">
            <a:off x="6572661" y="3867881"/>
            <a:ext cx="360000" cy="180000"/>
          </a:xfrm>
          <a:prstGeom prst="triangle">
            <a:avLst/>
          </a:prstGeom>
          <a:solidFill>
            <a:srgbClr val="316697"/>
          </a:solidFill>
          <a:ln>
            <a:solidFill>
              <a:srgbClr val="3166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13" name="Düz Ok Bağlayıcısı 12">
            <a:extLst>
              <a:ext uri="{FF2B5EF4-FFF2-40B4-BE49-F238E27FC236}">
                <a16:creationId xmlns:a16="http://schemas.microsoft.com/office/drawing/2014/main" id="{90078B4F-4819-F438-A98F-871B300F1BEE}"/>
              </a:ext>
            </a:extLst>
          </p:cNvPr>
          <p:cNvCxnSpPr>
            <a:cxnSpLocks/>
          </p:cNvCxnSpPr>
          <p:nvPr/>
        </p:nvCxnSpPr>
        <p:spPr>
          <a:xfrm>
            <a:off x="2351233" y="4582358"/>
            <a:ext cx="0" cy="504000"/>
          </a:xfrm>
          <a:prstGeom prst="straightConnector1">
            <a:avLst/>
          </a:prstGeom>
          <a:ln w="38100">
            <a:solidFill>
              <a:srgbClr val="3166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Düz Ok Bağlayıcısı 13">
            <a:extLst>
              <a:ext uri="{FF2B5EF4-FFF2-40B4-BE49-F238E27FC236}">
                <a16:creationId xmlns:a16="http://schemas.microsoft.com/office/drawing/2014/main" id="{23A90A55-258F-4753-3422-E21ABD53B4F5}"/>
              </a:ext>
            </a:extLst>
          </p:cNvPr>
          <p:cNvCxnSpPr>
            <a:cxnSpLocks/>
          </p:cNvCxnSpPr>
          <p:nvPr/>
        </p:nvCxnSpPr>
        <p:spPr>
          <a:xfrm>
            <a:off x="4153528" y="4582358"/>
            <a:ext cx="0" cy="504000"/>
          </a:xfrm>
          <a:prstGeom prst="straightConnector1">
            <a:avLst/>
          </a:prstGeom>
          <a:ln w="38100">
            <a:solidFill>
              <a:srgbClr val="3166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7C18B08E-858B-DC03-FF65-FD13FD9CE748}"/>
              </a:ext>
            </a:extLst>
          </p:cNvPr>
          <p:cNvCxnSpPr>
            <a:cxnSpLocks/>
          </p:cNvCxnSpPr>
          <p:nvPr/>
        </p:nvCxnSpPr>
        <p:spPr>
          <a:xfrm>
            <a:off x="5935850" y="4582358"/>
            <a:ext cx="0" cy="504000"/>
          </a:xfrm>
          <a:prstGeom prst="straightConnector1">
            <a:avLst/>
          </a:prstGeom>
          <a:ln w="38100">
            <a:solidFill>
              <a:srgbClr val="3166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7BA7913C-9C43-C1D1-FCA6-1B769346A309}"/>
              </a:ext>
            </a:extLst>
          </p:cNvPr>
          <p:cNvCxnSpPr>
            <a:cxnSpLocks/>
          </p:cNvCxnSpPr>
          <p:nvPr/>
        </p:nvCxnSpPr>
        <p:spPr>
          <a:xfrm>
            <a:off x="7731794" y="4582358"/>
            <a:ext cx="0" cy="504000"/>
          </a:xfrm>
          <a:prstGeom prst="straightConnector1">
            <a:avLst/>
          </a:prstGeom>
          <a:ln w="38100">
            <a:solidFill>
              <a:srgbClr val="3166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kdörtgen 16">
            <a:extLst>
              <a:ext uri="{FF2B5EF4-FFF2-40B4-BE49-F238E27FC236}">
                <a16:creationId xmlns:a16="http://schemas.microsoft.com/office/drawing/2014/main" id="{0F650859-8629-1E44-04C0-4AE20876A04A}"/>
              </a:ext>
            </a:extLst>
          </p:cNvPr>
          <p:cNvSpPr/>
          <p:nvPr/>
        </p:nvSpPr>
        <p:spPr>
          <a:xfrm>
            <a:off x="1663575" y="5244498"/>
            <a:ext cx="6807399" cy="677309"/>
          </a:xfrm>
          <a:prstGeom prst="rect">
            <a:avLst/>
          </a:prstGeom>
          <a:solidFill>
            <a:srgbClr val="639469"/>
          </a:solidFill>
          <a:ln>
            <a:solidFill>
              <a:srgbClr val="6394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000" dirty="0">
                <a:solidFill>
                  <a:schemeClr val="bg1"/>
                </a:solidFill>
              </a:rPr>
              <a:t>Değerlendirme</a:t>
            </a:r>
          </a:p>
        </p:txBody>
      </p:sp>
    </p:spTree>
    <p:extLst>
      <p:ext uri="{BB962C8B-B14F-4D97-AF65-F5344CB8AC3E}">
        <p14:creationId xmlns:p14="http://schemas.microsoft.com/office/powerpoint/2010/main" val="217931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68F4C-31F6-F91A-A49E-D672AD2A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E2FF74B-576C-CCA0-A83F-814EAB0E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6AE51677-8E90-EF6B-C619-7A536276BB46}"/>
              </a:ext>
            </a:extLst>
          </p:cNvPr>
          <p:cNvSpPr txBox="1"/>
          <p:nvPr/>
        </p:nvSpPr>
        <p:spPr>
          <a:xfrm>
            <a:off x="3046615" y="3024047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kern="100" dirty="0">
                <a:solidFill>
                  <a:prstClr val="black"/>
                </a:solidFill>
                <a:cs typeface="Times New Roman" panose="02020603050405020304" pitchFamily="18" charset="0"/>
              </a:rPr>
              <a:t>Tablo </a:t>
            </a:r>
            <a:r>
              <a:rPr lang="tr-TR" kern="100" dirty="0" err="1">
                <a:solidFill>
                  <a:prstClr val="black"/>
                </a:solidFill>
                <a:cs typeface="Times New Roman" panose="02020603050405020304" pitchFamily="18" charset="0"/>
              </a:rPr>
              <a:t>gelcek</a:t>
            </a:r>
            <a:endParaRPr lang="tr-TR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128170AE-F6BF-AD2F-DA2D-7D4A5B84C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33583"/>
              </p:ext>
            </p:extLst>
          </p:nvPr>
        </p:nvGraphicFramePr>
        <p:xfrm>
          <a:off x="1097280" y="2260683"/>
          <a:ext cx="7549415" cy="3963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136">
                  <a:extLst>
                    <a:ext uri="{9D8B030D-6E8A-4147-A177-3AD203B41FA5}">
                      <a16:colId xmlns:a16="http://schemas.microsoft.com/office/drawing/2014/main" val="3844309761"/>
                    </a:ext>
                  </a:extLst>
                </a:gridCol>
                <a:gridCol w="5266279">
                  <a:extLst>
                    <a:ext uri="{9D8B030D-6E8A-4147-A177-3AD203B41FA5}">
                      <a16:colId xmlns:a16="http://schemas.microsoft.com/office/drawing/2014/main" val="3526418142"/>
                    </a:ext>
                  </a:extLst>
                </a:gridCol>
              </a:tblGrid>
              <a:tr h="668339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Proje Yönetimi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b="0" dirty="0">
                          <a:solidFill>
                            <a:schemeClr val="bg1"/>
                          </a:solidFill>
                        </a:rPr>
                        <a:t>- Kapsam belirleme zaman planlaması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tr-TR" sz="1600" b="0" dirty="0">
                          <a:solidFill>
                            <a:schemeClr val="bg1"/>
                          </a:solidFill>
                        </a:rPr>
                        <a:t>- Risk yönetimi ve ekip liderliği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0463"/>
                  </a:ext>
                </a:extLst>
              </a:tr>
              <a:tr h="755638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İhtiyaç Analizi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Öğrenme hedeflerini belirleme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Hedef kitlenin özelliklerini değerlendirme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Performans eksikliklerini tespit etme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193328"/>
                  </a:ext>
                </a:extLst>
              </a:tr>
              <a:tr h="707115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Tasarım Aşaması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Öğretim stratejilerini seçme/ medya araçlarını belirleme</a:t>
                      </a:r>
                    </a:p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</a:t>
                      </a:r>
                      <a:r>
                        <a:rPr lang="tr-TR" sz="1600" dirty="0" err="1">
                          <a:solidFill>
                            <a:schemeClr val="bg1"/>
                          </a:solidFill>
                        </a:rPr>
                        <a:t>Storyboard</a:t>
                      </a: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 şablonları geliştirme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07583"/>
                  </a:ext>
                </a:extLst>
              </a:tr>
              <a:tr h="755638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Geliştirme Aşaması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Materyalleri üretme</a:t>
                      </a:r>
                    </a:p>
                    <a:p>
                      <a:pPr algn="ctr"/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Dijital araçlarla verimliliği artırma</a:t>
                      </a:r>
                    </a:p>
                    <a:p>
                      <a:pPr algn="ctr"/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Prototip oluşturma ve test etme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691990"/>
                  </a:ext>
                </a:extLst>
              </a:tr>
              <a:tr h="531746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Uygulama Aşaması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Materyalleri hedef kitleye ulaştırma</a:t>
                      </a:r>
                    </a:p>
                    <a:p>
                      <a:pPr algn="ctr"/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Teknik destek sağlama ve geri bildirim toplama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309570"/>
                  </a:ext>
                </a:extLst>
              </a:tr>
              <a:tr h="362813">
                <a:tc>
                  <a:txBody>
                    <a:bodyPr/>
                    <a:lstStyle/>
                    <a:p>
                      <a:pPr algn="ctr"/>
                      <a:r>
                        <a:rPr lang="tr-TR" sz="1600" b="1" dirty="0">
                          <a:solidFill>
                            <a:schemeClr val="bg1"/>
                          </a:solidFill>
                        </a:rPr>
                        <a:t>Değerlendirme Aşaması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tr-TR" sz="1600" dirty="0">
                          <a:solidFill>
                            <a:schemeClr val="bg1"/>
                          </a:solidFill>
                        </a:rPr>
                        <a:t>- Sürecin etkinliğini ölçme ve gerekli düzenlemeleri yapma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166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4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672684"/>
                  </a:ext>
                </a:extLst>
              </a:tr>
            </a:tbl>
          </a:graphicData>
        </a:graphic>
      </p:graphicFrame>
      <p:sp>
        <p:nvSpPr>
          <p:cNvPr id="7" name="Metin kutusu 6">
            <a:extLst>
              <a:ext uri="{FF2B5EF4-FFF2-40B4-BE49-F238E27FC236}">
                <a16:creationId xmlns:a16="http://schemas.microsoft.com/office/drawing/2014/main" id="{FECD5816-386F-7C7D-5D3B-3571DA807551}"/>
              </a:ext>
            </a:extLst>
          </p:cNvPr>
          <p:cNvSpPr txBox="1"/>
          <p:nvPr/>
        </p:nvSpPr>
        <p:spPr>
          <a:xfrm>
            <a:off x="996841" y="1768189"/>
            <a:ext cx="3923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tr-TR" sz="2400" kern="100" dirty="0">
                <a:solidFill>
                  <a:schemeClr val="accent3">
                    <a:lumMod val="50000"/>
                  </a:schemeClr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Öğretim Tasarımcısının Rolleri </a:t>
            </a:r>
          </a:p>
        </p:txBody>
      </p:sp>
    </p:spTree>
    <p:extLst>
      <p:ext uri="{BB962C8B-B14F-4D97-AF65-F5344CB8AC3E}">
        <p14:creationId xmlns:p14="http://schemas.microsoft.com/office/powerpoint/2010/main" val="60203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9CB15-282D-7F93-F22D-8C9C400D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5A2D74E-4DF0-9C20-7603-85C978D1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AMACI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8E9CA6-100C-D0C9-C987-AF58CF729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dirty="0" err="1">
                <a:solidFill>
                  <a:srgbClr val="404040"/>
                </a:solidFill>
              </a:rPr>
              <a:t>Araştırmanın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amacı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günümüzün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popüler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teknolojisi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olan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yapay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zekânın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öğretim</a:t>
            </a:r>
            <a:r>
              <a:rPr lang="en-US" dirty="0">
                <a:solidFill>
                  <a:srgbClr val="404040"/>
                </a:solidFill>
              </a:rPr>
              <a:t> t</a:t>
            </a:r>
            <a:r>
              <a:rPr lang="tr-TR" dirty="0">
                <a:solidFill>
                  <a:srgbClr val="404040"/>
                </a:solidFill>
              </a:rPr>
              <a:t>a</a:t>
            </a:r>
            <a:r>
              <a:rPr lang="en-US" dirty="0" err="1">
                <a:solidFill>
                  <a:srgbClr val="404040"/>
                </a:solidFill>
              </a:rPr>
              <a:t>sarımı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sürecine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öğretim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tasarım</a:t>
            </a:r>
            <a:r>
              <a:rPr lang="tr-TR" dirty="0" err="1">
                <a:solidFill>
                  <a:srgbClr val="404040"/>
                </a:solidFill>
              </a:rPr>
              <a:t>cısı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rollerine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olan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etkisini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incelemektir</a:t>
            </a:r>
            <a:r>
              <a:rPr lang="en-US" dirty="0">
                <a:solidFill>
                  <a:srgbClr val="40404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354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C9C1C-1991-013E-E9EF-5CA77D8B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EE55DA7-8006-8970-40A3-64C2627E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ARAŞTIRMANIN ÖNEMİ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870BBAF-74D8-A213-9405-7EDD67DC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dirty="0" err="1">
                <a:solidFill>
                  <a:srgbClr val="404040"/>
                </a:solidFill>
              </a:rPr>
              <a:t>Yapay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zekânın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öğretim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tasarımı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süreçlerinde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yarattığı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dönüşüm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öğretim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tasarımcılarının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rollerinde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meydana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gelen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değişimlere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ilişkin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literatürde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sınırlı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sayıda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çalışma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bulunmaktadır</a:t>
            </a:r>
            <a:r>
              <a:rPr lang="en-US" dirty="0">
                <a:solidFill>
                  <a:srgbClr val="404040"/>
                </a:solidFill>
              </a:rPr>
              <a:t>. Bu </a:t>
            </a:r>
            <a:r>
              <a:rPr lang="en-US" dirty="0" err="1">
                <a:solidFill>
                  <a:srgbClr val="404040"/>
                </a:solidFill>
              </a:rPr>
              <a:t>çalışma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söz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konusu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literatür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boşluğunu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doldurmaya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yönelik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önemli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bir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katkı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sunmaktadır</a:t>
            </a:r>
            <a:r>
              <a:rPr lang="en-US" dirty="0">
                <a:solidFill>
                  <a:srgbClr val="40404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606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55A5F-647C-AAC0-C392-5CE625D1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7CE8A90-71E6-9C10-F9BF-7E5B4D33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YÖNTEM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A20EAE7-06C0-5457-27F9-00499BC0E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dirty="0" err="1">
                <a:solidFill>
                  <a:srgbClr val="404040"/>
                </a:solidFill>
              </a:rPr>
              <a:t>Araştırma</a:t>
            </a:r>
            <a:r>
              <a:rPr lang="en-US" dirty="0">
                <a:solidFill>
                  <a:srgbClr val="404040"/>
                </a:solidFill>
              </a:rPr>
              <a:t>, </a:t>
            </a:r>
            <a:r>
              <a:rPr lang="en-US" dirty="0" err="1">
                <a:solidFill>
                  <a:srgbClr val="404040"/>
                </a:solidFill>
              </a:rPr>
              <a:t>ilgili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kuramsal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çerçeveye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dayandırılmış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olup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konu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alanına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ilişkin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makalelerin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incelendiği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kapsamlı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bir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literatür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taraması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ve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doküman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analizi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üzerine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temellendirilmiştir</a:t>
            </a:r>
            <a:r>
              <a:rPr lang="en-US" dirty="0">
                <a:solidFill>
                  <a:srgbClr val="40404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82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ED8C-7FCE-A9F3-7F8C-932F9213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3D03A97-AA2C-01A8-A6B3-0221BD8C7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7408BFC-D1F8-DFF9-CF7A-F4B859054BB8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3D32D94-FC0E-CFE3-A970-5382F94F71AA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B561BA0-4B6F-F526-14E3-29C79118B740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45861F5-58C2-6FD0-3621-CEEA32B0355C}"/>
              </a:ext>
            </a:extLst>
          </p:cNvPr>
          <p:cNvSpPr txBox="1"/>
          <p:nvPr/>
        </p:nvSpPr>
        <p:spPr>
          <a:xfrm>
            <a:off x="790662" y="3003895"/>
            <a:ext cx="8856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Analiz</a:t>
            </a:r>
            <a:endParaRPr lang="tr-TR" sz="2000" dirty="0">
              <a:solidFill>
                <a:srgbClr val="404040"/>
              </a:solidFill>
            </a:endParaRP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36169CE-B147-0295-236B-34025C80252E}"/>
              </a:ext>
            </a:extLst>
          </p:cNvPr>
          <p:cNvSpPr txBox="1"/>
          <p:nvPr/>
        </p:nvSpPr>
        <p:spPr>
          <a:xfrm>
            <a:off x="1881813" y="2513009"/>
            <a:ext cx="4069599" cy="2164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Büyük veri kümelerini analiz ederek öğrenenlerin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performansını değerlendirir ve kişiselleştirilmiş öğrenme deneyimleri için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ihtiyaçlarını belirler.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Öğrencilerin mevcut bilgi düzeylerini, öğrenme stillerini ve güçlü yönlerini analiz ederek öğrencinin seviyesine uygun başlangıç noktaları oluşturur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DA8AF352-9B3F-B21F-29BB-22FBA2B2F08D}"/>
              </a:ext>
            </a:extLst>
          </p:cNvPr>
          <p:cNvSpPr txBox="1">
            <a:spLocks/>
          </p:cNvSpPr>
          <p:nvPr/>
        </p:nvSpPr>
        <p:spPr>
          <a:xfrm>
            <a:off x="6156878" y="2513009"/>
            <a:ext cx="3945571" cy="25135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Yapay zekanın sağladığı 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verilerin doğruluğunu kontrol eder ve algoritmaları 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pedagojik açıdan değerlendirir, stratejik kararlar alır.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YZ düşük performans gösterilen konuları belirleyebilir ancak bunu eğitim stratejilerine dönüştürme sorumluluğu öğretim tasarımcılarına aittir.</a:t>
            </a:r>
          </a:p>
          <a:p>
            <a:pPr>
              <a:spcAft>
                <a:spcPts val="800"/>
              </a:spcAft>
            </a:pPr>
            <a:endParaRPr lang="tr-TR" sz="1600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24370C31-4BAC-B3EF-0DED-D8580B26F534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0B63894C-1401-ADD0-B36C-A86EFBAE9102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F4AD6C78-467C-9D92-DE5C-1B8F84144189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294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3246E-AEE6-43B8-69A9-D668F2B6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853A54FD-AEAF-97F8-62DC-E7D7699DBFDB}"/>
              </a:ext>
            </a:extLst>
          </p:cNvPr>
          <p:cNvSpPr txBox="1"/>
          <p:nvPr/>
        </p:nvSpPr>
        <p:spPr>
          <a:xfrm>
            <a:off x="734045" y="3003895"/>
            <a:ext cx="998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Tasarım</a:t>
            </a:r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19EE7E50-9000-DCF6-6387-194AE784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70C5246-121A-80EB-CF61-BCCA0841C456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4962321-374A-0F47-9F99-607DC78A3641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5AA979D-8008-0FAA-42DF-60E47C48F6A0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760C8F3-0F76-5254-262D-D062AB531D1D}"/>
              </a:ext>
            </a:extLst>
          </p:cNvPr>
          <p:cNvSpPr txBox="1"/>
          <p:nvPr/>
        </p:nvSpPr>
        <p:spPr>
          <a:xfrm>
            <a:off x="1915702" y="2530684"/>
            <a:ext cx="4069599" cy="26161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Ölçülebilir 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ğrenme hedeflerini tanımlar ve içerik kapsamını belirler.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Öğrenme hedefleriyle uyumlu d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ers haritası, modül hedefleri, değerlendirme araçları ve etkinlik taslakları sunar.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Öğrenme materyalleri için tasarım (ör. İnfografik, video) oluşturmayı otomatikleştirir.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Öğretim senaryoları ve değerlendirme soruları oluşturabilir. 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93DD13B1-E8B7-83F9-0891-E72F6EE26581}"/>
              </a:ext>
            </a:extLst>
          </p:cNvPr>
          <p:cNvSpPr txBox="1">
            <a:spLocks/>
          </p:cNvSpPr>
          <p:nvPr/>
        </p:nvSpPr>
        <p:spPr>
          <a:xfrm>
            <a:off x="6095999" y="2530684"/>
            <a:ext cx="5361954" cy="30675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Öğretim tasarımcıları yönlendirici ve denetleyici bir role girer.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Analiz sonuçlarına dayanarak öğrenme hedeflerini netleştirir.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Yapay zeka tarafından oluşturulan içeriklerin bağlamsal ve pedagojik uygunluğunu değerlendirir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eksik konuları tamamlar ve gereksiz bölümleri çıkarır.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Öğrenme deneyiminin insan boyutunu katarak içerikleri zenginleştirir ve bu içerikleri doğruluk, uygunluk ve kalite standartları 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açısından değerlendirir.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600" kern="100" dirty="0" err="1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YZ’nın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önerdiği tasarımları değerlendirip kişiselleştirir.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lang="tr-TR" sz="1600" kern="100" dirty="0" err="1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Storyboard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şablonları ve detaylı tasarım belgeleri hazırlar.</a:t>
            </a: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FFC7F639-62DC-C64D-A408-FA80A1C2326D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E6248986-040C-B572-E59B-96B7A1F9F863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32F02B6D-AA93-FA7B-2E66-DFA4E7B8B392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48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D85CB-6828-8026-C75A-1707F7C5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FF2A3959-63BB-752E-38C6-E2CA0BA50517}"/>
              </a:ext>
            </a:extLst>
          </p:cNvPr>
          <p:cNvSpPr txBox="1"/>
          <p:nvPr/>
        </p:nvSpPr>
        <p:spPr>
          <a:xfrm>
            <a:off x="558140" y="3003895"/>
            <a:ext cx="12513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Geliştirme</a:t>
            </a:r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DDCFE503-38C6-BADD-B4E1-E1DB91EB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5FDE300-8BED-9231-39DE-DD4278B7C7ED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279E23CD-703B-7EF6-04BE-C951817B9610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B6B8ACC-1658-2FD7-AD79-9C9446BB0B27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BBC8D84-8B95-481F-020F-62E7E6D57F64}"/>
              </a:ext>
            </a:extLst>
          </p:cNvPr>
          <p:cNvSpPr txBox="1"/>
          <p:nvPr/>
        </p:nvSpPr>
        <p:spPr>
          <a:xfrm>
            <a:off x="1925078" y="2543489"/>
            <a:ext cx="4069596" cy="26161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Hızlı prototipleme yöntemleriyle öğrenme materyallerinin ilk taslaklarını hızlıca üretir.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-Etkileşimli simülasyonlar, oyunlaştırılmış öğrenme materyalleri ve kişiselleştirilmiş öğrenme yolları gibi içerikleri oluşturur.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Görseller, videolar, ses dosyaları gibi multimedya içerikleri üretir.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Otomatik olarak değerlendirme soruları, testler ve materyaller oluşturur.  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71A6441-8A4C-CA57-9A31-46970F4199C9}"/>
              </a:ext>
            </a:extLst>
          </p:cNvPr>
          <p:cNvSpPr txBox="1">
            <a:spLocks/>
          </p:cNvSpPr>
          <p:nvPr/>
        </p:nvSpPr>
        <p:spPr>
          <a:xfrm>
            <a:off x="6110511" y="2543489"/>
            <a:ext cx="4701175" cy="21236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Yapay zeka tarafından oluşturulan materyalleri test eder ve optimize eder.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İçeriklerin hedef kitleye uygunluğunu değerlendirir.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Materyallerde düzenlemeler yaparak etkili ve anlamlı içeriklerin geliştirilmesini sağlar.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Geliştirilen materyallerin öğretim tasarımının ilkelerine uygunluğunu belirler ve değerlendirir.</a:t>
            </a: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B320E1E6-304E-8722-CC41-0D69ABBD4684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9C10C211-CB66-EF77-47D7-749715AF207C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74CB14A1-25B0-20A7-D335-4614FB78FDA7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53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8650-4C86-3116-2873-4F74F3BC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C7E9C6F-ABE9-142F-1E3E-506B4E14387E}"/>
              </a:ext>
            </a:extLst>
          </p:cNvPr>
          <p:cNvSpPr txBox="1"/>
          <p:nvPr/>
        </p:nvSpPr>
        <p:spPr>
          <a:xfrm>
            <a:off x="558140" y="3003895"/>
            <a:ext cx="12513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Uygulama</a:t>
            </a:r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B6763D80-F4B1-CE27-6F64-016990878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1F0403F-19A2-2B36-0DCD-A82B0F5FBF0D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5DAF8627-2AD7-575A-05B6-D8527AF8F7AC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580F39-0054-8089-DF74-384CB99D9AF5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30CA273-4E15-E9CF-2326-A301D95AD9D2}"/>
              </a:ext>
            </a:extLst>
          </p:cNvPr>
          <p:cNvSpPr txBox="1"/>
          <p:nvPr/>
        </p:nvSpPr>
        <p:spPr>
          <a:xfrm>
            <a:off x="1881813" y="2544720"/>
            <a:ext cx="4069599" cy="93358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Öğrenci ilerlemesini takip eder ve analiz eder.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Kişiselleştirilmiş öğrenme desteği sağlar (ör. bireysel öneriler, hızlı geri bildirim).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E5804B18-46CA-AAA4-5CB7-4660D4476140}"/>
              </a:ext>
            </a:extLst>
          </p:cNvPr>
          <p:cNvSpPr txBox="1">
            <a:spLocks/>
          </p:cNvSpPr>
          <p:nvPr/>
        </p:nvSpPr>
        <p:spPr>
          <a:xfrm>
            <a:off x="6095993" y="2544720"/>
            <a:ext cx="5312501" cy="2472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İçeriklerin uygun platformlar aracılığıyla dağıtımını sağlar.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Eğitim ortamını hazırlar ve kullanıcıların materyallerle etkileşimini kolaylaştırır.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Öğrenci performansını analiz ederek bireysel farklılıklara göre destek sunar.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Öğrenme sürecini desteklemek için </a:t>
            </a:r>
            <a:r>
              <a:rPr lang="tr-TR" sz="1600" kern="100" dirty="0" err="1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YZ’den</a:t>
            </a: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gelen önerileri entegre eder.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-Uygulama sürecini planlar, koordine eder.</a:t>
            </a: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72D7D2B5-36D2-AD97-0C1C-BF9083C94538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90515F57-D034-8A37-868B-5C9C91351EE2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4B83708E-59DE-C1BB-D046-4A4F051F6EAF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58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C7E61-7CB8-CCC4-511B-6E4B337F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C265AB2-62D7-ADF2-50AA-4EC8EE6C47A3}"/>
              </a:ext>
            </a:extLst>
          </p:cNvPr>
          <p:cNvSpPr txBox="1"/>
          <p:nvPr/>
        </p:nvSpPr>
        <p:spPr>
          <a:xfrm>
            <a:off x="142838" y="2985512"/>
            <a:ext cx="1809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Değerlendirme</a:t>
            </a:r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8F603A12-A8BD-0C6A-16D0-0EEDDA79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205BD48-0912-0F5C-8F6C-299DCA207E5B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83D2DCA-31B0-6CE7-FAAF-9B041045894E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6B6C9866-9CF6-A123-8440-F323F998F8FE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93CA5BE2-C304-2928-87F3-FFF907351074}"/>
              </a:ext>
            </a:extLst>
          </p:cNvPr>
          <p:cNvSpPr txBox="1"/>
          <p:nvPr/>
        </p:nvSpPr>
        <p:spPr>
          <a:xfrm>
            <a:off x="1907736" y="2469204"/>
            <a:ext cx="4199089" cy="44012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Sınavlar ve ödevler için otomatik değerlendirme yapar.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Öğrenme analitiğiyle hangi etkinliklerin daha etkili olduğunu belirler,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öğrenme çıktılarının analizinde destek sağlar.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Bireysel değerlendirme mekanizmalarının kullanılmasını sağlar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öğrenci geri bildirimlerinden iyileştirme öngörüleri sunar.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Öğretim tasarımcılarını operasyonel işlerden stratejik rollere yönlendirir.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Değerlendirme sonuçları, katılım oranları ve öğrenme davranışlarını analiz eder, güçlü ve zayıf yönleri hızla tespit eder.</a:t>
            </a:r>
          </a:p>
          <a:p>
            <a:pPr marL="285750" indent="-285750">
              <a:spcAft>
                <a:spcPts val="800"/>
              </a:spcAft>
              <a:buFontTx/>
              <a:buChar char="-"/>
            </a:pPr>
            <a:endParaRPr lang="tr-TR" sz="1600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F65398EA-56A2-299B-77B5-FBF677EDDE36}"/>
              </a:ext>
            </a:extLst>
          </p:cNvPr>
          <p:cNvSpPr txBox="1">
            <a:spLocks/>
          </p:cNvSpPr>
          <p:nvPr/>
        </p:nvSpPr>
        <p:spPr>
          <a:xfrm>
            <a:off x="6140621" y="2469204"/>
            <a:ext cx="5048403" cy="32111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Yapay zeka değerlendirme sonuçlarını kontrol eder ve değerlendirir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bu sonuçlara göre yeni materyal veya etkinlikler tasarlar.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Öznel değerlendirme gerektiren durumlarda kendi uzman görüşünü ortaya koyar.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Değerlendirme verilerini analiz ederek iyileştirme alanlarını belirler. 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 Verilerin doğru yorumlanması tasarımcının sorumluluğundadır.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-Algoritmaların etik uygunluğu tasarımcılarca denetlenmelidir.</a:t>
            </a: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1B4CC499-304E-59BA-61E1-CB4258DC7F36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5E4205C7-653C-6171-1F27-6EBBEDB5C6BB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76FBFD51-D5F7-061B-16F6-33C0D96687BB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947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8034F-535C-2157-E329-6BC9E379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0809291-60F1-89F5-AF01-D7843D62B9D5}"/>
              </a:ext>
            </a:extLst>
          </p:cNvPr>
          <p:cNvSpPr txBox="1"/>
          <p:nvPr/>
        </p:nvSpPr>
        <p:spPr>
          <a:xfrm>
            <a:off x="83125" y="3003895"/>
            <a:ext cx="18095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Proje yönetimi</a:t>
            </a:r>
          </a:p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(Tüm Aşamalar)</a:t>
            </a:r>
          </a:p>
        </p:txBody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B0753E0A-D22C-EE83-8A03-59D131C4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BULGULAR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9247F1A-879E-FD80-4718-B9B432C3BEF0}"/>
              </a:ext>
            </a:extLst>
          </p:cNvPr>
          <p:cNvSpPr txBox="1"/>
          <p:nvPr/>
        </p:nvSpPr>
        <p:spPr>
          <a:xfrm>
            <a:off x="734045" y="2004400"/>
            <a:ext cx="9989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ADDIE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CB72DA5D-AC37-F000-485C-DA38E7606B19}"/>
              </a:ext>
            </a:extLst>
          </p:cNvPr>
          <p:cNvSpPr txBox="1"/>
          <p:nvPr/>
        </p:nvSpPr>
        <p:spPr>
          <a:xfrm>
            <a:off x="2733018" y="1999025"/>
            <a:ext cx="2511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Yapay Zekanın Rolü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4F823A8-9122-A7FC-2CFE-D61FD7034BBC}"/>
              </a:ext>
            </a:extLst>
          </p:cNvPr>
          <p:cNvSpPr txBox="1"/>
          <p:nvPr/>
        </p:nvSpPr>
        <p:spPr>
          <a:xfrm>
            <a:off x="6373896" y="1999025"/>
            <a:ext cx="367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000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Öğretim Tasarımcısın Rolü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A352BDCE-2E13-BEB0-396A-1F13B5E6BB4E}"/>
              </a:ext>
            </a:extLst>
          </p:cNvPr>
          <p:cNvSpPr txBox="1"/>
          <p:nvPr/>
        </p:nvSpPr>
        <p:spPr>
          <a:xfrm>
            <a:off x="1870983" y="2513009"/>
            <a:ext cx="4172371" cy="16722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Büyük miktarda veriyi analiz ederek kaynakların nasıl optimize edileceği ve projelerin nasıl daha etkili yönetileceği konusunda öneriler sunar.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Proje planlarını hazırlar ve verimliliği artırıcı öneriler sağlar, teknik işleri otomatikleştirir.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F846DA23-BB07-53DF-9156-E6343F68DB1D}"/>
              </a:ext>
            </a:extLst>
          </p:cNvPr>
          <p:cNvSpPr txBox="1">
            <a:spLocks/>
          </p:cNvSpPr>
          <p:nvPr/>
        </p:nvSpPr>
        <p:spPr>
          <a:xfrm>
            <a:off x="6096000" y="2513009"/>
            <a:ext cx="5123813" cy="17748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Yapay zeka tarafından oluşturulan proje planlarını ve önerileri değerlendirir.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Proje hedefleriyle uyumunu kontrol eder ve gerektiğinde düzenlemeler yapar. </a:t>
            </a:r>
          </a:p>
          <a:p>
            <a:pPr>
              <a:spcAft>
                <a:spcPts val="800"/>
              </a:spcAft>
            </a:pPr>
            <a:r>
              <a:rPr lang="tr-TR" sz="1600" kern="100" dirty="0">
                <a:solidFill>
                  <a:srgbClr val="40404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Ekip üyeleri arasındaki koordinasyonu sağlar</a:t>
            </a:r>
            <a:r>
              <a:rPr lang="tr-TR" sz="16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pedagojik ve yaratıcı çözümlere odaklanır.</a:t>
            </a:r>
            <a:endParaRPr lang="tr-TR" sz="1600" kern="100" dirty="0">
              <a:solidFill>
                <a:srgbClr val="40404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Düz Bağlayıcı 16">
            <a:extLst>
              <a:ext uri="{FF2B5EF4-FFF2-40B4-BE49-F238E27FC236}">
                <a16:creationId xmlns:a16="http://schemas.microsoft.com/office/drawing/2014/main" id="{76C8038F-6E4A-3397-BA56-1BC13C318F4D}"/>
              </a:ext>
            </a:extLst>
          </p:cNvPr>
          <p:cNvCxnSpPr>
            <a:cxnSpLocks/>
          </p:cNvCxnSpPr>
          <p:nvPr/>
        </p:nvCxnSpPr>
        <p:spPr>
          <a:xfrm>
            <a:off x="644058" y="2458759"/>
            <a:ext cx="10490662" cy="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>
            <a:extLst>
              <a:ext uri="{FF2B5EF4-FFF2-40B4-BE49-F238E27FC236}">
                <a16:creationId xmlns:a16="http://schemas.microsoft.com/office/drawing/2014/main" id="{AFAB6C4E-627E-E4EB-2B3E-C79366FB21D5}"/>
              </a:ext>
            </a:extLst>
          </p:cNvPr>
          <p:cNvCxnSpPr>
            <a:cxnSpLocks/>
          </p:cNvCxnSpPr>
          <p:nvPr/>
        </p:nvCxnSpPr>
        <p:spPr>
          <a:xfrm>
            <a:off x="1881813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>
            <a:extLst>
              <a:ext uri="{FF2B5EF4-FFF2-40B4-BE49-F238E27FC236}">
                <a16:creationId xmlns:a16="http://schemas.microsoft.com/office/drawing/2014/main" id="{B1C6279E-C5F5-55D8-ABE4-DA1D71AFD2C2}"/>
              </a:ext>
            </a:extLst>
          </p:cNvPr>
          <p:cNvCxnSpPr>
            <a:cxnSpLocks/>
          </p:cNvCxnSpPr>
          <p:nvPr/>
        </p:nvCxnSpPr>
        <p:spPr>
          <a:xfrm>
            <a:off x="6096000" y="1950150"/>
            <a:ext cx="0" cy="3960000"/>
          </a:xfrm>
          <a:prstGeom prst="line">
            <a:avLst/>
          </a:prstGeom>
          <a:ln w="28575">
            <a:solidFill>
              <a:srgbClr val="3166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87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9098E-F61E-BDA7-45E2-02701272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33BE56C-A6C4-A887-564B-F0B818406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SONUÇ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889000B-EEC5-7E85-A22F-0B5B6E47A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dirty="0">
                <a:solidFill>
                  <a:srgbClr val="404040"/>
                </a:solidFill>
              </a:rPr>
              <a:t>Görüldüğü gibi </a:t>
            </a:r>
            <a:r>
              <a:rPr lang="en-US" dirty="0" err="1">
                <a:solidFill>
                  <a:srgbClr val="404040"/>
                </a:solidFill>
              </a:rPr>
              <a:t>yapay</a:t>
            </a:r>
            <a:r>
              <a:rPr lang="en-US" dirty="0">
                <a:solidFill>
                  <a:srgbClr val="404040"/>
                </a:solidFill>
              </a:rPr>
              <a:t> </a:t>
            </a:r>
            <a:r>
              <a:rPr lang="en-US" dirty="0" err="1">
                <a:solidFill>
                  <a:srgbClr val="404040"/>
                </a:solidFill>
              </a:rPr>
              <a:t>zekâ</a:t>
            </a:r>
            <a:r>
              <a:rPr lang="tr-TR" dirty="0">
                <a:solidFill>
                  <a:srgbClr val="404040"/>
                </a:solidFill>
              </a:rPr>
              <a:t>, öğretim tasarımı sürecinin birçok noktasında ya da bütününde etkili olmaktadır ve etkili olmaya da devam edecektir. Bu da öğretim tasarımcılarının yeni bilgi ve beceriler edinmelerini gerektirmektedir. Bunlar şunlardır: 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YZ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okuryazarlığı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temel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gereklilik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haline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gelmiştir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YZ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okuryazarlığı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bireylerin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YZ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araçlarını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teknolojilerinin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işleyiş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potansiyel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sonuçlarını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değerlendirme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yetkinliğidir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8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3290-C7CD-4C51-34BD-20E2BC12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8266384-37D5-8672-2F62-B63B86692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SONUÇ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33C3A7-EF26-C4AD-854E-1120B3B2B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YZ’nin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etik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kullanımı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veri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gizliliği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güvenliği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konularında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farkındalık</a:t>
            </a: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 beceriler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artırılmalıdır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tr-TR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     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Etik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kullanım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;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teknolojinin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adil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güvenilir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sorumlu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uygulanmasını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kullanıcı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verilerinin</a:t>
            </a:r>
            <a:r>
              <a:rPr lang="tr-TR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     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korunmasını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önyargıların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giderilmesini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şeffaflık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ile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hesap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verebilirliği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kapsar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(Amado-</a:t>
            </a:r>
            <a:endParaRPr lang="tr-TR" kern="100" dirty="0">
              <a:solidFill>
                <a:srgbClr val="40404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      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Salvatierra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vd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., 2023).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tr-TR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2183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51A5-5379-BD66-FF42-D6DB1381C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D4D69F2-93B3-7387-463D-7EB6C7F5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SONUÇ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6B4893-A4BA-0D10-5DD0-C4F9B73A2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/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YZ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araçlarının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etkili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kullanımı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için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doğru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detaylı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yönergeler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oluşturmayı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gerektiren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b="1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prompt </a:t>
            </a:r>
            <a:r>
              <a:rPr lang="en-US" b="1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mühendisliği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öğretim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tasarımında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giderek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daha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önemli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 hale </a:t>
            </a:r>
            <a:r>
              <a:rPr lang="en-US" kern="100" dirty="0" err="1">
                <a:solidFill>
                  <a:srgbClr val="404040"/>
                </a:solidFill>
                <a:cs typeface="Times New Roman" panose="02020603050405020304" pitchFamily="18" charset="0"/>
              </a:rPr>
              <a:t>gelmektedir</a:t>
            </a:r>
            <a:r>
              <a:rPr lang="en-US" kern="100" dirty="0">
                <a:solidFill>
                  <a:srgbClr val="404040"/>
                </a:solidFill>
                <a:cs typeface="Times New Roman" panose="02020603050405020304" pitchFamily="18" charset="0"/>
              </a:rPr>
              <a:t>. </a:t>
            </a:r>
            <a:endParaRPr lang="tr-TR" kern="100" dirty="0">
              <a:solidFill>
                <a:srgbClr val="40404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Analitik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eleştirel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düşünme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YZ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içeriklerinin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doğruluğunu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tarafsızlığını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bağlama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uygunluğunu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değerlendirmede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kritik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beceridir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tr-TR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106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03EA-84BB-D5C3-6315-9E70ABEC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3A6BBC13-F229-FCE9-5CEA-28A77A61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ÖNERİLER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F74F16-4347-FBDB-21B5-DAC19E34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Gelecekte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YZ,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öğretim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tasarımında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stratejik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iş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birliği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ortağı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haline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gelebilir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Kişiselleştirme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Erken müdahale</a:t>
            </a:r>
            <a:endParaRPr lang="en-US" sz="2200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VR/AR </a:t>
            </a:r>
            <a:r>
              <a:rPr lang="en-US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entegrasyonu</a:t>
            </a:r>
            <a:endParaRPr lang="tr-TR" sz="2200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Anlık ve kişiselleştirilmiş geribildirim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Adaptif değerlendirme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Grup projeleri ve </a:t>
            </a:r>
            <a:r>
              <a:rPr lang="tr-TR" sz="2200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işbirlikli</a:t>
            </a:r>
            <a:r>
              <a:rPr lang="tr-TR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çalışmayı izleme….</a:t>
            </a:r>
            <a:r>
              <a:rPr lang="en-US" sz="2200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prstClr val="black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2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B4CC2-7568-3D96-C0D9-4FEDED82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A00A3F6-45B5-B1D1-F50D-A3BD3F9A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064302"/>
            <a:ext cx="10058400" cy="673058"/>
          </a:xfrm>
        </p:spPr>
        <p:txBody>
          <a:bodyPr>
            <a:normAutofit fontScale="90000"/>
          </a:bodyPr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ÖNERİLER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586A79-18C4-D956-1A53-473DEB3A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tr-TR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Öğretim tasarımcıları;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veri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yöneticileri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ve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etik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standartları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denetleyen</a:t>
            </a:r>
            <a:r>
              <a:rPr lang="en-US" b="1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 err="1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danışmanlar</a:t>
            </a:r>
            <a:r>
              <a:rPr lang="en-US" kern="100" dirty="0">
                <a:solidFill>
                  <a:srgbClr val="40404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kern="100" dirty="0">
              <a:solidFill>
                <a:srgbClr val="404040"/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defRPr/>
            </a:pPr>
            <a:endParaRPr lang="en-US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914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78E89-10AD-ED19-7ED9-12B060BE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35155158-F60E-852C-0C3F-A61A14FF87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601" y="1365390"/>
            <a:ext cx="1268999" cy="1268999"/>
          </a:xfrm>
          <a:prstGeom prst="rect">
            <a:avLst/>
          </a:prstGeom>
        </p:spPr>
      </p:pic>
      <p:sp>
        <p:nvSpPr>
          <p:cNvPr id="2" name="Unvan 1">
            <a:extLst>
              <a:ext uri="{FF2B5EF4-FFF2-40B4-BE49-F238E27FC236}">
                <a16:creationId xmlns:a16="http://schemas.microsoft.com/office/drawing/2014/main" id="{5E0D53F6-7E8A-492F-6009-8F7BFE2F6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378230"/>
            <a:ext cx="4296408" cy="1186249"/>
          </a:xfrm>
        </p:spPr>
        <p:txBody>
          <a:bodyPr>
            <a:normAutofit fontScale="90000"/>
          </a:bodyPr>
          <a:lstStyle/>
          <a:p>
            <a:b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br>
              <a:rPr lang="tr-TR" dirty="0">
                <a:solidFill>
                  <a:schemeClr val="accent2">
                    <a:lumMod val="75000"/>
                  </a:schemeClr>
                </a:solidFill>
                <a:latin typeface="+mn-lt"/>
              </a:rPr>
            </a:br>
            <a:r>
              <a:rPr lang="tr-TR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UEDFOR 6</a:t>
            </a:r>
            <a:endParaRPr lang="tr-TR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D5DFEDC-B4F6-E84A-2BE7-0CCF90C709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4505923"/>
            <a:ext cx="10058400" cy="1764003"/>
          </a:xfrm>
        </p:spPr>
        <p:txBody>
          <a:bodyPr>
            <a:noAutofit/>
          </a:bodyPr>
          <a:lstStyle/>
          <a:p>
            <a:pPr algn="ctr"/>
            <a:r>
              <a:rPr lang="tr-TR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TEŞEKKÜRLER</a:t>
            </a:r>
          </a:p>
          <a:p>
            <a:pPr algn="ctr"/>
            <a:endParaRPr lang="tr-TR" sz="28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85EB79AD-6492-CA3F-3AD6-1609CD4B20D4}"/>
              </a:ext>
            </a:extLst>
          </p:cNvPr>
          <p:cNvSpPr txBox="1"/>
          <p:nvPr/>
        </p:nvSpPr>
        <p:spPr>
          <a:xfrm>
            <a:off x="1294537" y="3044279"/>
            <a:ext cx="96029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ULUSAL EĞİTİMDE DÖNÜŞÜM FORUMU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6771CD00-A285-D8A4-4ADE-B3E08703A8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993" y="1365069"/>
            <a:ext cx="1365940" cy="1323975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DFE249DD-5D77-A216-049F-ACA69180E3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326" y="1294083"/>
            <a:ext cx="1411612" cy="1411612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DBFD4E5D-F1C2-3855-9D5B-5B174D577F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331" y="1347015"/>
            <a:ext cx="1305747" cy="130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81492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Yeşil Sarı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479</TotalTime>
  <Words>1305</Words>
  <Application>Microsoft Office PowerPoint</Application>
  <PresentationFormat>Geniş ekran</PresentationFormat>
  <Paragraphs>180</Paragraphs>
  <Slides>21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7" baseType="lpstr">
      <vt:lpstr>Aptos</vt:lpstr>
      <vt:lpstr>Calibri</vt:lpstr>
      <vt:lpstr>Calibri Light</vt:lpstr>
      <vt:lpstr>Nirmala Text</vt:lpstr>
      <vt:lpstr>Times New Roman</vt:lpstr>
      <vt:lpstr>Geçmişe bakış</vt:lpstr>
      <vt:lpstr>  UEDFOR 6</vt:lpstr>
      <vt:lpstr>ARAŞTIRMANIN AMACI</vt:lpstr>
      <vt:lpstr>ARAŞTIRMANIN AMACI</vt:lpstr>
      <vt:lpstr>ARAŞTIRMANIN AMACI</vt:lpstr>
      <vt:lpstr>ARAŞTIRMANIN AMACI</vt:lpstr>
      <vt:lpstr>ARAŞTIRMANIN AMACI</vt:lpstr>
      <vt:lpstr>ARAŞTIRMANIN AMACI</vt:lpstr>
      <vt:lpstr>ARAŞTIRMANIN ÖNEMİ</vt:lpstr>
      <vt:lpstr>YÖNTEM </vt:lpstr>
      <vt:lpstr>BULGULAR</vt:lpstr>
      <vt:lpstr>BULGULAR</vt:lpstr>
      <vt:lpstr>BULGULAR</vt:lpstr>
      <vt:lpstr>BULGULAR</vt:lpstr>
      <vt:lpstr>BULGULAR</vt:lpstr>
      <vt:lpstr>BULGULAR</vt:lpstr>
      <vt:lpstr>SONUÇ</vt:lpstr>
      <vt:lpstr>SONUÇ</vt:lpstr>
      <vt:lpstr>SONUÇ</vt:lpstr>
      <vt:lpstr>ÖNERİLER</vt:lpstr>
      <vt:lpstr>ÖNERİLER</vt:lpstr>
      <vt:lpstr>  UEDFOR 6</vt:lpstr>
    </vt:vector>
  </TitlesOfParts>
  <Company>SilentAll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User</dc:creator>
  <cp:lastModifiedBy>Zeynep Açıkgöz</cp:lastModifiedBy>
  <cp:revision>49</cp:revision>
  <dcterms:created xsi:type="dcterms:W3CDTF">2025-09-25T06:20:33Z</dcterms:created>
  <dcterms:modified xsi:type="dcterms:W3CDTF">2026-09-26T13:13:36Z</dcterms:modified>
</cp:coreProperties>
</file>